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554480" cy="731520"/>
          </a:xfrm>
          <a:prstGeom prst="rect">
            <a:avLst/>
          </a:prstGeom>
          <a:solidFill>
            <a:srgbClr val="E021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783080" y="6355080"/>
            <a:ext cx="1554480" cy="731520"/>
          </a:xfrm>
          <a:prstGeom prst="rect">
            <a:avLst/>
          </a:prstGeom>
          <a:solidFill>
            <a:srgbClr val="9B6B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566160" y="6126480"/>
            <a:ext cx="1554480" cy="731520"/>
          </a:xfrm>
          <a:prstGeom prst="rect">
            <a:avLst/>
          </a:prstGeom>
          <a:solidFill>
            <a:srgbClr val="31D4D9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49240" y="6355080"/>
            <a:ext cx="1554480" cy="731520"/>
          </a:xfrm>
          <a:prstGeom prst="rect">
            <a:avLst/>
          </a:prstGeom>
          <a:solidFill>
            <a:srgbClr val="9B6B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6126480"/>
            <a:ext cx="1554480" cy="731520"/>
          </a:xfrm>
          <a:prstGeom prst="rect">
            <a:avLst/>
          </a:prstGeom>
          <a:solidFill>
            <a:srgbClr val="E0218A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915400" y="6355080"/>
            <a:ext cx="1554480" cy="731520"/>
          </a:xfrm>
          <a:prstGeom prst="rect">
            <a:avLst/>
          </a:prstGeom>
          <a:solidFill>
            <a:srgbClr val="31D4D9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0" y="6126480"/>
            <a:ext cx="1554480" cy="731520"/>
          </a:xfrm>
          <a:prstGeom prst="rect">
            <a:avLst/>
          </a:prstGeom>
          <a:solidFill>
            <a:srgbClr val="9B6BFF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SUMMIT SEOUL · 발표 요약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K-beauty를 바꾸다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AI를 PoC를 넘어 실제 프로덕션으로 — 단계적 AI 도입 여정과 K-beauty 적용 사례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4800600"/>
            <a:ext cx="4206240" cy="0"/>
          </a:xfrm>
          <a:prstGeom prst="line">
            <a:avLst/>
          </a:prstGeom>
          <a:noFill/>
          <a:ln w="19050">
            <a:solidFill>
              <a:srgbClr val="9B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박민주</a:t>
            </a:r>
            <a:pPr indent="0" marL="0">
              <a:buNone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솔루션즈 아키텍트, AWS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최권열</a:t>
            </a:r>
            <a:pPr indent="0" marL="0">
              <a:buNone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CTO, 바비톡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에이전틱 AI, 프로덕션까지의 과제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123444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28016" cy="1234440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65%</a:t>
            </a:r>
            <a:pPr indent="0" marL="0">
              <a:buNone/>
            </a:pPr>
            <a:r>
              <a:rPr lang="en-US" sz="15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도입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pPr indent="0" marL="0">
              <a:buNone/>
            </a:pPr>
            <a:r>
              <a:rPr lang="en-US" sz="15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미만 프로덕션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406640" y="20116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기업의 65%가 생성형 AI를 도입했지만,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프로덕션 배포까지 도달하는 비율은 30% 미만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584448" cy="260604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429000"/>
            <a:ext cx="3584448" cy="91440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794760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4005072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127248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68680" y="4800600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모델 선택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비용 최적화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4406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최적 모델 선택과 운영 비용·품질의 균형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315968" y="3429000"/>
            <a:ext cx="3584448" cy="260604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15968" y="3429000"/>
            <a:ext cx="3584448" cy="91440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636008" y="3794760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00507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94576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4636008" y="4800600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설계와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속도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4636008" y="54406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에이전트를 빠르고 일관되게 만드는 방법론 부재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83296" y="3429000"/>
            <a:ext cx="3584448" cy="260604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083296" y="3429000"/>
            <a:ext cx="3584448" cy="91440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26" name="Shape 22"/>
          <p:cNvSpPr/>
          <p:nvPr/>
        </p:nvSpPr>
        <p:spPr>
          <a:xfrm>
            <a:off x="8403336" y="3794760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4005072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661904" y="3749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8403336" y="4800600"/>
            <a:ext cx="2944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및 운영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8403336" y="544068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배포·모니터링·유지보수 체계 확보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OPERATING PRINCIPLES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 AI 선순환 4대 원칙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82880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109728" cy="1828800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560320"/>
            <a:ext cx="868680" cy="868680"/>
          </a:xfrm>
          <a:prstGeom prst="ellipse">
            <a:avLst/>
          </a:prstGeom>
          <a:solidFill>
            <a:srgbClr val="2E1C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7706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965960" y="24414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철저히 비즈니스 가치 중심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65960" y="2990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기술이 아닌 비즈니스 문제(Problem)에서 출발 — 명확한 임팩트가 있는 곳에만 적용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2057400"/>
            <a:ext cx="5440680" cy="182880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2057400"/>
            <a:ext cx="109728" cy="1828800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565392" y="2560320"/>
            <a:ext cx="868680" cy="868680"/>
          </a:xfrm>
          <a:prstGeom prst="ellipse">
            <a:avLst/>
          </a:prstGeom>
          <a:solidFill>
            <a:srgbClr val="2E1C5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277063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497312" y="2240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7616952" y="24414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LLM에서 AI Agent로 진화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616952" y="29900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도구로서의 AI → 대행자로서의 AI로 점진적 패러다임 전환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4114800"/>
            <a:ext cx="5440680" cy="182880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48640" y="4114800"/>
            <a:ext cx="109728" cy="1828800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4617720"/>
            <a:ext cx="868680" cy="868680"/>
          </a:xfrm>
          <a:prstGeom prst="ellipse">
            <a:avLst/>
          </a:prstGeom>
          <a:solidFill>
            <a:srgbClr val="2E1C5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82803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46320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1965960" y="44988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기반 개발 가속화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1965960" y="50474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주도 개발 생명주기로 설계·구현·검증 속도를 끌어올림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199632" y="4114800"/>
            <a:ext cx="5440680" cy="182880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99632" y="4114800"/>
            <a:ext cx="109728" cy="1828800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28" name="Shape 23"/>
          <p:cNvSpPr/>
          <p:nvPr/>
        </p:nvSpPr>
        <p:spPr>
          <a:xfrm>
            <a:off x="6565392" y="4617720"/>
            <a:ext cx="868680" cy="868680"/>
          </a:xfrm>
          <a:prstGeom prst="ellipse">
            <a:avLst/>
          </a:prstGeom>
          <a:solidFill>
            <a:srgbClr val="2E1C5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4828032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497312" y="4297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2D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5"/>
          <p:cNvSpPr/>
          <p:nvPr/>
        </p:nvSpPr>
        <p:spPr>
          <a:xfrm>
            <a:off x="7616952" y="449884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가볍고 빠르게 실행부터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616952" y="50474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PoC로 빠르게 시작하고 반복 검증하며 프로덕션으로 확장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JOURNEY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 LLM 기반 AI 도입 여정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463040" y="2788920"/>
            <a:ext cx="9235440" cy="0"/>
          </a:xfrm>
          <a:prstGeom prst="line">
            <a:avLst/>
          </a:prstGeom>
          <a:noFill/>
          <a:ln w="25400">
            <a:solidFill>
              <a:srgbClr val="3E2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12848" y="2532888"/>
            <a:ext cx="512064" cy="512064"/>
          </a:xfrm>
          <a:prstGeom prst="ellipse">
            <a:avLst/>
          </a:prstGeom>
          <a:solidFill>
            <a:srgbClr val="E0218A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12848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5800" y="3291840"/>
            <a:ext cx="3566160" cy="265176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91840"/>
            <a:ext cx="3566160" cy="82296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02152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이미지 생성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요약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70448" y="2532888"/>
            <a:ext cx="512064" cy="512064"/>
          </a:xfrm>
          <a:prstGeom prst="ellipse">
            <a:avLst/>
          </a:prstGeom>
          <a:solidFill>
            <a:srgbClr val="9B6BFF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70448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434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343400" y="3291840"/>
            <a:ext cx="3566160" cy="265176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3291840"/>
            <a:ext cx="3566160" cy="82296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3502152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및 답변 ver.1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태깅 · 번역 · 검수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528048" y="2532888"/>
            <a:ext cx="512064" cy="512064"/>
          </a:xfrm>
          <a:prstGeom prst="ellipse">
            <a:avLst/>
          </a:prstGeom>
          <a:solidFill>
            <a:srgbClr val="31D4D9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528048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10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상반기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01000" y="3291840"/>
            <a:ext cx="3566160" cy="265176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01000" y="3291840"/>
            <a:ext cx="3566160" cy="82296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502152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스캔·닮은꼴 찾기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데이터 분석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공주의 거울 상담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검색·답변 ver.2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 여행 상담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K-beauty를 바꾸는 대표 적용 사례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175564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395728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후기 검수 시스템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965960" y="2761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광고성·허위 게시글 실시간 검수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65960" y="3328416"/>
            <a:ext cx="3794760" cy="310896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33284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대응시간 50%↓ · 비정상 누락 0%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99632" y="2011680"/>
            <a:ext cx="5440680" cy="175564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47104" y="2395728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26060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16952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검색·답변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616952" y="2761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Agent → Multi-Agent(NLU·DM·NLG)로 고도화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616952" y="3328416"/>
            <a:ext cx="3794760" cy="310896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18" name="Text 14"/>
          <p:cNvSpPr/>
          <p:nvPr/>
        </p:nvSpPr>
        <p:spPr>
          <a:xfrm>
            <a:off x="7708392" y="33284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검색·답변 ver.1 → ver.2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3968496"/>
            <a:ext cx="5440680" cy="175564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96112" y="4352544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4562856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65960" y="4242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공주의 거울 (뷰티 상담)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965960" y="4718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이벤트·포인트 연동 AI 뷰티 고민 상담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965960" y="5285232"/>
            <a:ext cx="3794760" cy="310896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25" name="Text 20"/>
          <p:cNvSpPr/>
          <p:nvPr/>
        </p:nvSpPr>
        <p:spPr>
          <a:xfrm>
            <a:off x="2057400" y="52852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3주 만에 개발·배포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199632" y="3968496"/>
            <a:ext cx="5440680" cy="175564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47104" y="4352544"/>
            <a:ext cx="868680" cy="86868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4562856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616952" y="42428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 한국 여행 가이드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616952" y="4718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여행·장소·뷰티 등 멀티 에이전트 트립 가이드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616952" y="5285232"/>
            <a:ext cx="3794760" cy="310896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32" name="Text 26"/>
          <p:cNvSpPr/>
          <p:nvPr/>
        </p:nvSpPr>
        <p:spPr>
          <a:xfrm>
            <a:off x="7708392" y="52852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인바운드 관광객 막연함 해소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· PoC → PRODUCTION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+ 방법론 = AI 혁신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83280" cy="324612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3383280" cy="640080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AI 스택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Bedrock · AgentCore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Strands Agents SDK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Kiro · aidlc-workflows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3383280" cy="324612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07408" y="2148840"/>
            <a:ext cx="3383280" cy="640080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2" name="Text 10"/>
          <p:cNvSpPr/>
          <p:nvPr/>
        </p:nvSpPr>
        <p:spPr>
          <a:xfrm>
            <a:off x="4407408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1728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0016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Inception : 요구·유저스토리·설계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: 코드 생성·테스트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 : 배포 자동화·운영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66176" y="2148840"/>
            <a:ext cx="3383280" cy="324612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148840"/>
            <a:ext cx="3383280" cy="640080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148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0496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가속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558784" y="356616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PoC→프로덕션 격차 축소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 여행 가이드 등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에이전트 빠른 출시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0208" y="3337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808976" y="33375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방법론이 함께할 때 PoC에서 프로덕션까지의 격차를 줄일 수 있습니다.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 · AI-DLC LENS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관점으로 본 4대 사례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아닌 AI가 개발의 중심 — 사람은 검증·의사결정에 집중. 3단계 사이클로 각 사례를 해부합니다.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29584" cy="1078992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109728" cy="1078992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39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05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 것인가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요구·유저스토리·아키텍처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05072" y="23317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61104" y="2011680"/>
            <a:ext cx="3529584" cy="1078992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61104" y="2011680"/>
            <a:ext cx="109728" cy="1078992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2139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2505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구현할 것인가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상세설계·코드생성·테스트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17536" y="23317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973568" y="2011680"/>
            <a:ext cx="3529584" cy="1078992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73568" y="2011680"/>
            <a:ext cx="109728" cy="1078992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47888" y="2139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7888" y="2505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운영할 것인가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자동화·프로덕션 운영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01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성숙도 — 도구로서의 AI → 대행자로서의 AI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2615184" cy="182880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886200"/>
            <a:ext cx="2615184" cy="82296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69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1520" y="4599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후기 검수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5020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서버리스 PoC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27248" y="43891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3346704" y="4197096"/>
            <a:ext cx="2615184" cy="182880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46704" y="4197096"/>
            <a:ext cx="2615184" cy="82296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29" name="Text 27"/>
          <p:cNvSpPr/>
          <p:nvPr/>
        </p:nvSpPr>
        <p:spPr>
          <a:xfrm>
            <a:off x="3529584" y="43799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529584" y="4910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검색·답변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529584" y="5330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→ 대행자 전환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25312" y="470001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144768" y="4507992"/>
            <a:ext cx="2615184" cy="182880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4507992"/>
            <a:ext cx="2615184" cy="82296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46908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327648" y="5221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공주의 거울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327648" y="5641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첫 본격 적용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23376" y="501091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8942832" y="4818888"/>
            <a:ext cx="2615184" cy="1828800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42832" y="4818888"/>
            <a:ext cx="2615184" cy="82296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41" name="Text 39"/>
          <p:cNvSpPr/>
          <p:nvPr/>
        </p:nvSpPr>
        <p:spPr>
          <a:xfrm>
            <a:off x="9125712" y="5001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9125712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 여행 가이드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25712" y="5952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완성형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01 · 도구로서의 AI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후기 검수 시스템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· 서버리스 PoC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모이는 중계 플랫폼의 광고성·목적성 게시글을 AI로 선제 검수 — 가볍고 빠른 서버리스 PoC로 시작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84832"/>
            <a:ext cx="3630168" cy="56692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INCEPTION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목표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 후기·커뮤니티 중계 플랫폼에 광고성·목적성 게시글 유입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막대한 검수 인력과 공수로 수기 클린징 → 운영 부담 가중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‘기술 과몰입’ 경계, 비즈니스 문제 해결을 기준으로 적용 검토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084832"/>
            <a:ext cx="3630168" cy="56692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AI-DLC 적용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7136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 PoC: 게시글(ECS) → EventBridge → Lambda 검수 → Slack 알림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운영팀 검수 기준을 시스템 프롬프트·컨텍스트로 고도화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Claude로 시작 → 모델 ‘다이어트’ 후 Amazon Nova로 교체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실험을 거쳐 운영 관리자 콘솔에 통합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10144" y="2084832"/>
            <a:ext cx="3630168" cy="56692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효과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신고 방식 → AI 기반 선대응 검수로 정책 전환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주간·월간 통계로 정량적 검수 가능성을 확신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deprecation 대응·교체 유지보수 비용 절감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66944"/>
            <a:ext cx="11091672" cy="65836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266944"/>
            <a:ext cx="118872" cy="658368"/>
          </a:xfrm>
          <a:prstGeom prst="rect">
            <a:avLst/>
          </a:prstGeom>
          <a:solidFill>
            <a:srgbClr val="E0218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0680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07008" y="52669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시간 50% 이상 ↓ · 비정상 게시글 누락 0% · 신뢰도 높은 커뮤니티 확보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02 · 도구 → 대행자 전환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자연어 검색·답변 (ver.1 → ver.2)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→ Multi-Agent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뷰티업계 최초 AI 검색·답변 — 거대한 단일 에이전트의 한계를 멀티 에이전트 리팩토링으로 돌파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84832"/>
            <a:ext cx="3630168" cy="56692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INCEPTION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목표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검색 → 자연어 질문 패러다임으로 탐색 경험 전환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후기·커뮤니티 정보를 의도에 맞게 모아 요약 제공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뷰티업계 최초로 공격적 런칭 → 노하우 선점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084832"/>
            <a:ext cx="3630168" cy="56692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AI-DLC 적용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7136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ver.1 단일 에이전트: 거대 프롬프트+컨텍스트 → 의도와 다른 답변·유지보수 난항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ver.2: 전통 NLP 구조(NLU·DM·NLG)를 독립 서브에이전트로 리팩토링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NLU가 의도 파악 → DM·NLG 정확히 연동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단위 에이전트라 튜닝·체인지·통제가 용이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10144" y="2084832"/>
            <a:ext cx="3630168" cy="56692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효과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의도대로 결과·답변 생성, 운영 안정성 확보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‘기능코’ 질문 → 잘하는 병원을 장점과 함께 추천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복잡도 ↓ · 유지보수성 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66944"/>
            <a:ext cx="11091672" cy="65836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266944"/>
            <a:ext cx="118872" cy="658368"/>
          </a:xfrm>
          <a:prstGeom prst="rect">
            <a:avLst/>
          </a:prstGeom>
          <a:solidFill>
            <a:srgbClr val="9B6BFF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0680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07008" y="52669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Single → Multi-Agent 리팩토링 · 답변 정확도·통제성 향상 · 유지보수 부담 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03 · AI-DLC 본격 적용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공주의 거울 (뷰티 고민 상담)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· 3주 개발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거울에 털어놓듯 뷰티 고민을 상담 — 개발 전 과정에 AI를 적용해 1인·3주 만에 런칭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84832"/>
            <a:ext cx="3630168" cy="56692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INCEPTION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목표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 고민을 친근하게 공감·위로·추천하는 상담 AI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정서적·개인화된 상담 경험을 핵심 가치로 설계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084832"/>
            <a:ext cx="3630168" cy="56692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AI-DLC 적용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7136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명의 개발자가 FE+BE+AI 전부 3주 + 운영 최적화 1주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설계패턴·네이밍·비기능 요구사항 → 룰스(Rules) 엔지니어링으로 제어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→ SDD(Spec-Driven Development) 채용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요소까지 AI로 업데이트·상시 관리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10144" y="2084832"/>
            <a:ext cx="3630168" cy="56692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효과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후 작은 사이클로 보완: 단일 → 2개 에이전트 리팩토링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 LLM 교체(비용·성능), 폭주 대비 인프라 탄력성 확보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개인화·행동패턴 분석용 로깅·모니터링 추가 → 레슨화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66944"/>
            <a:ext cx="11091672" cy="65836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266944"/>
            <a:ext cx="118872" cy="658368"/>
          </a:xfrm>
          <a:prstGeom prst="rect">
            <a:avLst/>
          </a:prstGeom>
          <a:solidFill>
            <a:srgbClr val="31D4D9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0680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07008" y="52669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개발 · 3주 + 운영 1주 · 개발 전 과정 AI 활용 · 운영 레슨 도출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04 · 대행자로서의 AI · AI-DLC 완성형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K-beauty 한국 여행 가이드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6" name="Text 4"/>
          <p:cNvSpPr/>
          <p:nvPr/>
        </p:nvSpPr>
        <p:spPr>
          <a:xfrm>
            <a:off x="9189720" y="950976"/>
            <a:ext cx="2450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· 1주 개발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뷰티+여행을 결합한 멀티 에이전트 — 비기능 요구사항을 선제 설계하고 AI-DLC로 1주 만에 구현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84832"/>
            <a:ext cx="3630168" cy="56692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INCEPTION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목표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외국인 인바운드 K-beauty 관광 수요 (일본어 글로벌 서비스 기반)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뷰티 × 여행 결합으로 요구 기능 대폭 복잡화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품질·관측 등 비기능 요구사항을 설계 직전 단계부터 선제 정의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79392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79392" y="2084832"/>
            <a:ext cx="3630168" cy="56692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CONSTRUCTION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· AI-DLC 적용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17136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키 팩터: Bedrock AgentCore · Strands Agents · Kiro · aidlc-workflows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Kiro로 워크플로 세팅 → 프롬프트로 요구사항(비기능 포함) 전달이 핵심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사이클(뼈대) → 작은 사이클(성능 개선) 반복, HITL 승인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Trip Guide Agent → 여행·장소·뷰티 서브에이전트, 5개 툴+우선순위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10144" y="2084832"/>
            <a:ext cx="3630168" cy="3035808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10144" y="2084832"/>
            <a:ext cx="3630168" cy="56692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08483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  </a:t>
            </a:r>
            <a:pPr indent="0" marL="0">
              <a:buNone/>
            </a:pPr>
            <a:r>
              <a:rPr lang="en-US" sz="1000" dirty="0">
                <a:solidFill>
                  <a:srgbClr val="1A1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효과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2798064"/>
            <a:ext cx="3172968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할루시네이션(없는 장소 추천) → 예제·검증으로 실존 정보만 답변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신뢰도+언어 완성도 메트릭을 CI/CD 리포트라인으로 지속 추적</a:t>
            </a:r>
            <a:endParaRPr lang="en-US" sz="11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CDK/CloudFormation으로 AgentCore Runtime 자동 배포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266944"/>
            <a:ext cx="11091672" cy="658368"/>
          </a:xfrm>
          <a:prstGeom prst="rect">
            <a:avLst/>
          </a:prstGeom>
          <a:solidFill>
            <a:srgbClr val="2E1C57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5266944"/>
            <a:ext cx="118872" cy="658368"/>
          </a:xfrm>
          <a:prstGeom prst="rect">
            <a:avLst/>
          </a:prstGeom>
          <a:solidFill>
            <a:srgbClr val="E0218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0680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07008" y="5266944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· 1주 개발 · 높은 답변 신뢰도 · 서버 운영 효율 = ‘3마리 토끼’ 동시 달성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적용 성숙도와 핵심 레슨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사례를 거치며 깊어진 AI-DLC 적용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5486400" cy="749808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95728"/>
            <a:ext cx="91440" cy="74980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39572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검수
</a:t>
            </a:r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바운더리 안, 가이드+LLM 세팅 (도구)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5486400" cy="749808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273552"/>
            <a:ext cx="91440" cy="74980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2735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27355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검색·답변
</a:t>
            </a:r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→ 멀티 에이전트로 자율성·통제성 확보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5486400" cy="749808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151376"/>
            <a:ext cx="91440" cy="749808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15137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415137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공주의 거울
</a:t>
            </a:r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전 과정 AI화, 배포 후 작은 사이클 반복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5486400" cy="749808"/>
          </a:xfrm>
          <a:prstGeom prst="rect">
            <a:avLst/>
          </a:prstGeom>
          <a:solidFill>
            <a:srgbClr val="24154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029200"/>
            <a:ext cx="91440" cy="749808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50292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80160" y="5029200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 가이드
</a:t>
            </a:r>
            <a:pPr indent="0" marL="0">
              <a:buNone/>
            </a:pPr>
            <a:r>
              <a:rPr lang="en-US" sz="11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선제 설계 + AI-DLC 풀스택 자동화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레슨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395728"/>
            <a:ext cx="5239512" cy="749808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2542032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651760"/>
            <a:ext cx="237744" cy="23774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178040" y="2395728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요구사항을 ‘설계 직전’에 선제 정의할수록 운영 비용이 줄어든다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400800" y="3273552"/>
            <a:ext cx="5239512" cy="749808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28" name="Shape 25"/>
          <p:cNvSpPr/>
          <p:nvPr/>
        </p:nvSpPr>
        <p:spPr>
          <a:xfrm>
            <a:off x="6583680" y="3419856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3529584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178040" y="327355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단일 에이전트보다 작게 쪼갠 멀티 에이전트가 튜닝·통제에 유리하다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00800" y="4151376"/>
            <a:ext cx="5239512" cy="749808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32" name="Shape 28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4407408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178040" y="4151376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사이클로 뼈대, 작은 사이클로 품질 — 배포 후가 진짜 시작이다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400800" y="5029200"/>
            <a:ext cx="5239512" cy="749808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36" name="Shape 31"/>
          <p:cNvSpPr/>
          <p:nvPr/>
        </p:nvSpPr>
        <p:spPr>
          <a:xfrm>
            <a:off x="6583680" y="5175504"/>
            <a:ext cx="457200" cy="457200"/>
          </a:xfrm>
          <a:prstGeom prst="ellipse">
            <a:avLst/>
          </a:prstGeom>
          <a:solidFill>
            <a:srgbClr val="1A1033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5285232"/>
            <a:ext cx="237744" cy="23774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178040" y="502920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신뢰도·완성도를 지표화해 CI/CD 리포트라인으로 내재화한다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 AI Agent의 청사진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3931920"/>
          </a:xfrm>
          <a:prstGeom prst="rect">
            <a:avLst/>
          </a:prstGeom>
          <a:solidFill>
            <a:srgbClr val="241546"/>
          </a:solidFill>
          <a:ln/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00" cy="91440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77440"/>
            <a:ext cx="914400" cy="914400"/>
          </a:xfrm>
          <a:prstGeom prst="ellipse">
            <a:avLst/>
          </a:prstGeom>
          <a:solidFill>
            <a:srgbClr val="2E1C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06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2423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Studio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96596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셀프서비스로 에이전트 운영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61188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AI Agent를 설계 → 구성 → 배포 → 공유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AgentCore · Strands · Kiro · aidlc 기반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기술·영업 지원 및 AI 워크샵으로 확산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7A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선순환 플라이휠로 조직 전반 내재화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20574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시사점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400800" y="2697480"/>
            <a:ext cx="5212080" cy="713232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0" y="2697480"/>
            <a:ext cx="91440" cy="713232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26974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178040" y="26974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문제에서 출발해야 AI가 가치를 만든다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0" y="3538728"/>
            <a:ext cx="5212080" cy="713232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0" y="3538728"/>
            <a:ext cx="91440" cy="713232"/>
          </a:xfrm>
          <a:prstGeom prst="rect">
            <a:avLst/>
          </a:prstGeom>
          <a:solidFill>
            <a:srgbClr val="9B6BFF"/>
          </a:solidFill>
          <a:ln/>
        </p:spPr>
      </p:sp>
      <p:sp>
        <p:nvSpPr>
          <p:cNvPr id="19" name="Text 16"/>
          <p:cNvSpPr/>
          <p:nvPr/>
        </p:nvSpPr>
        <p:spPr>
          <a:xfrm>
            <a:off x="6583680" y="353872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6B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178040" y="353872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PoC는 작고 빠르게 — 3주 만에 프로덕션도 가능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0" y="4379976"/>
            <a:ext cx="5212080" cy="713232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22" name="Shape 19"/>
          <p:cNvSpPr/>
          <p:nvPr/>
        </p:nvSpPr>
        <p:spPr>
          <a:xfrm>
            <a:off x="6400800" y="4379976"/>
            <a:ext cx="91440" cy="713232"/>
          </a:xfrm>
          <a:prstGeom prst="rect">
            <a:avLst/>
          </a:prstGeom>
          <a:solidFill>
            <a:srgbClr val="31D4D9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0" y="437997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D4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178040" y="437997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AI-DLC + AWS 에이전트 스택으로 개발을 가속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400800" y="5221224"/>
            <a:ext cx="5212080" cy="713232"/>
          </a:xfrm>
          <a:prstGeom prst="rect">
            <a:avLst/>
          </a:prstGeom>
          <a:solidFill>
            <a:srgbClr val="2E1C57"/>
          </a:solidFill>
          <a:ln/>
        </p:spPr>
      </p:sp>
      <p:sp>
        <p:nvSpPr>
          <p:cNvPr id="26" name="Shape 23"/>
          <p:cNvSpPr/>
          <p:nvPr/>
        </p:nvSpPr>
        <p:spPr>
          <a:xfrm>
            <a:off x="6400800" y="5221224"/>
            <a:ext cx="91440" cy="713232"/>
          </a:xfrm>
          <a:prstGeom prst="rect">
            <a:avLst/>
          </a:prstGeom>
          <a:solidFill>
            <a:srgbClr val="E0218A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522122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522122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셀프서비스 스튜디오로 AI를 조직 역량으로 확산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7F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바비톡의 AX 여정 · 에이전틱 AI로 K-beauty를 바꾸다  |  AWS Summit Seoul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55680" y="640080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21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바비톡의 AX 여정 요약</dc:title>
  <dc:subject>PptxGenJS Presentation</dc:subject>
  <dc:creator>Cowork</dc:creator>
  <cp:lastModifiedBy>Cowork</cp:lastModifiedBy>
  <cp:revision>1</cp:revision>
  <dcterms:created xsi:type="dcterms:W3CDTF">2026-06-04T13:18:09Z</dcterms:created>
  <dcterms:modified xsi:type="dcterms:W3CDTF">2026-06-04T13:18:09Z</dcterms:modified>
</cp:coreProperties>
</file>